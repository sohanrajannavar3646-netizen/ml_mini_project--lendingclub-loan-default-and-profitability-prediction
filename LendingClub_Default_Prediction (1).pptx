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2a8ab47-1105-5ca4-b44b-8b86baa92e68}">
          <p14:sldIdLst>
            <p14:sldId id="256"/>
            <p14:sldId id="257"/>
          </p14:sldIdLst>
        </p14:section>
        <p14:section name="Data" id="{7d6bb655-ea92-9e71-c6e0-b9c24f273511}">
          <p14:sldIdLst>
            <p14:sldId id="258"/>
            <p14:sldId id="259"/>
          </p14:sldIdLst>
        </p14:section>
        <p14:section name="Method" id="{9001e1c5-66be-f386-1a67-0d9629b33f7d}">
          <p14:sldIdLst>
            <p14:sldId id="260"/>
            <p14:sldId id="261"/>
          </p14:sldIdLst>
        </p14:section>
        <p14:section name="Results" id="{f173549a-e381-b17b-657b-7bc7e38d6951}">
          <p14:sldIdLst>
            <p14:sldId id="262"/>
            <p14:sldId id="263"/>
            <p14:sldId id="264"/>
          </p14:sldIdLst>
        </p14:section>
        <p14:section name="Wrap-up" id="{60d7009e-bffc-595c-74bf-3d0e4719b7b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B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B3A"/>
                </a:solidFill>
                <a:latin typeface="+mn-lt"/>
              </a:rPr>
              <a:t>Share of real defaults caught (recall,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(no balancing)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Neural Network (MLP)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(balanced + tuned)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Neural Network (MLP)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58.3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E0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2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B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both team members. One line: we predict whether a LendingClub loan will be fully paid or default, using only information known at application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business one. Label 1 = Fully Paid, label 0 = Default or Charged Off. Inspired by the Stanford CS229 report by Li and Han (2018): we keep its 2012 to 2015 period and model families, but avoid features that reveal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file: 2,260,701 rows and 151 columns. After keeping 2012 to 2015 loans with a final outcome we have 786,820 loans, 81.4% Fully Paid. The imbalance matters: always predicting Paid already gives about 0.81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is the biggest trap in this dataset. Columns like total_pymnt, recoveries and last_pymnt_d are only known after the loan has played out, so they would let a model 'cheat'. We use only application-time features. Likely Q&amp;A: why does our AUC look lower than papers that report 0.89? Because we exclude these columns and report per-class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fitted on the training set only to avoid leaking dev or test statistics. The dev set is used only to choose the decision threshold; the test set is touched once for final numbers. 136 features come from 20 numeric plus one-hot encoded categorical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MLPClassifier in scikit-learn has no class_weight option, so we undersample the majority class 1:1 for it. The other three models use class weights. Then we move the decision threshold away from 0.5 using the dev set; the tuned thresholds were about 0.53 to 0.54 on P(default).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first version (lending_club_classifier.py) used no class balancing for the MLP and Random Forest. They scored 0.82 accuracy but caught only 7% (MLP) and 4% (Random Forest) of real defaults because they predicted Paid almost every time. Class weighting, undersampling and threshold tuning in v2 raised Default recall to about 58%. This is why we report ROC-AUC and per-class metrics instead of accuracy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results_summary.csv written by lending_club_classifier_v2.py. At the dev-tuned threshold the models catch roughly 58 to 61% of defaults with about 32 to 33% precision. Accuracy at the tuned threshold is about 0.69 to 0.70, which is lower than v1's 0.82 on purpose: we trade accuracy for catching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ROC-AUC measures how well each model ranks defaulters above payers, independent of the threshold. The near-identical curves suggest the limit is in the information in the features, not in model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limits: grade, sub_grade and int_rate encode LendingClub's own credit assessment, so part of our signal may simply be theirs. The reference paper's 0.89 weighted precision and recall is not directly comparable to our per-class metrics, since we also exclude outcome-revealing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messages. Then invite questions. Be ready to explain: why leakage columns were dropped, why accuracy misleads at 81/19, how class weighting, undersampling and threshold tuning work, why the dev set is only for the threshold, and why AUC plateaus near 0.72.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LendingClub Loan Default Prediction  |  UE24CS352A Machine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LendingClub Loan Default Prediction  |  UE24CS352A Machine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LendingClub Loan Default Prediction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UE24CS352A Machine Learning  |  Mini-Project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Sohan MR  and  Sinchana Kulkarni</a:t>
            </a:r>
            <a:endParaRPr lang="en-US" sz="1600" dirty="0"/>
          </a:p>
        </p:txBody>
      </p:sp>
      <p:sp>
        <p:nvSpPr>
          <p:cNvPr id="4" name="Headline stats panel"/>
          <p:cNvSpPr/>
          <p:nvPr/>
        </p:nvSpPr>
        <p:spPr>
          <a:xfrm>
            <a:off x="6126480" y="91440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/>
        </p:spPr>
      </p:sp>
      <p:sp>
        <p:nvSpPr>
          <p:cNvPr id="5" name="Stat 1 value"/>
          <p:cNvSpPr txBox="1"/>
          <p:nvPr/>
        </p:nvSpPr>
        <p:spPr>
          <a:xfrm>
            <a:off x="635508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786,820</a:t>
            </a:r>
            <a:endParaRPr lang="en-US" sz="3000" dirty="0"/>
          </a:p>
        </p:txBody>
      </p:sp>
      <p:sp>
        <p:nvSpPr>
          <p:cNvPr id="6" name="Stat 1 label"/>
          <p:cNvSpPr txBox="1"/>
          <p:nvPr/>
        </p:nvSpPr>
        <p:spPr>
          <a:xfrm>
            <a:off x="635508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finalized loans, 2012 to 2015</a:t>
            </a:r>
            <a:endParaRPr lang="en-US" sz="1200" dirty="0"/>
          </a:p>
        </p:txBody>
      </p:sp>
      <p:sp>
        <p:nvSpPr>
          <p:cNvPr id="7" name="Stat 2 value"/>
          <p:cNvSpPr txBox="1"/>
          <p:nvPr/>
        </p:nvSpPr>
        <p:spPr>
          <a:xfrm>
            <a:off x="6355080" y="21214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8" name="Stat 2 label"/>
          <p:cNvSpPr txBox="1"/>
          <p:nvPr/>
        </p:nvSpPr>
        <p:spPr>
          <a:xfrm>
            <a:off x="6355080" y="2624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models compared</a:t>
            </a:r>
            <a:endParaRPr lang="en-US" sz="1200" dirty="0"/>
          </a:p>
        </p:txBody>
      </p:sp>
      <p:sp>
        <p:nvSpPr>
          <p:cNvPr id="9" name="Stat 3 value"/>
          <p:cNvSpPr txBox="1"/>
          <p:nvPr/>
        </p:nvSpPr>
        <p:spPr>
          <a:xfrm>
            <a:off x="6355080" y="31455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0.7245</a:t>
            </a:r>
            <a:endParaRPr lang="en-US" sz="3000" dirty="0"/>
          </a:p>
        </p:txBody>
      </p:sp>
      <p:sp>
        <p:nvSpPr>
          <p:cNvPr id="10" name="Stat 3 label"/>
          <p:cNvSpPr txBox="1"/>
          <p:nvPr/>
        </p:nvSpPr>
        <p:spPr>
          <a:xfrm>
            <a:off x="6355080" y="3648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best test ROC-AUC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problem: who will repay?</a:t>
            </a:r>
            <a:endParaRPr lang="en-US" sz="3000" dirty="0"/>
          </a:p>
        </p:txBody>
      </p:sp>
      <p:sp>
        <p:nvSpPr>
          <p:cNvPr id="3" name="Row 1 card"/>
          <p:cNvSpPr/>
          <p:nvPr/>
        </p:nvSpPr>
        <p:spPr>
          <a:xfrm>
            <a:off x="548640" y="1280160"/>
            <a:ext cx="5029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Row 1 badge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ow 1 badge number"/>
          <p:cNvSpPr txBox="1"/>
          <p:nvPr/>
        </p:nvSpPr>
        <p:spPr>
          <a:xfrm>
            <a:off x="7315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ow 1 text"/>
          <p:cNvSpPr txBox="1"/>
          <p:nvPr/>
        </p:nvSpPr>
        <p:spPr>
          <a:xfrm>
            <a:off x="1371600" y="135331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risk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Peer-to-peer investors lose money when a borrower defaults. Credit risk is their main concern.</a:t>
            </a:r>
            <a:endParaRPr lang="en-US" sz="1600" dirty="0"/>
          </a:p>
        </p:txBody>
      </p:sp>
      <p:sp>
        <p:nvSpPr>
          <p:cNvPr id="7" name="Row 2 card"/>
          <p:cNvSpPr/>
          <p:nvPr/>
        </p:nvSpPr>
        <p:spPr>
          <a:xfrm>
            <a:off x="548640" y="2377440"/>
            <a:ext cx="5029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8" name="Row 2 badge"/>
          <p:cNvSpPr/>
          <p:nvPr/>
        </p:nvSpPr>
        <p:spPr>
          <a:xfrm>
            <a:off x="731520" y="2633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Row 2 badge number"/>
          <p:cNvSpPr txBox="1"/>
          <p:nvPr/>
        </p:nvSpPr>
        <p:spPr>
          <a:xfrm>
            <a:off x="7315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Row 2 text"/>
          <p:cNvSpPr txBox="1"/>
          <p:nvPr/>
        </p:nvSpPr>
        <p:spPr>
          <a:xfrm>
            <a:off x="1371600" y="245059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task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Binary classification from information available when the application is made.</a:t>
            </a:r>
            <a:endParaRPr lang="en-US" sz="1600" dirty="0"/>
          </a:p>
        </p:txBody>
      </p:sp>
      <p:sp>
        <p:nvSpPr>
          <p:cNvPr id="11" name="Row 3 card"/>
          <p:cNvSpPr/>
          <p:nvPr/>
        </p:nvSpPr>
        <p:spPr>
          <a:xfrm>
            <a:off x="548640" y="3474720"/>
            <a:ext cx="5029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2" name="Row 3 badge"/>
          <p:cNvSpPr/>
          <p:nvPr/>
        </p:nvSpPr>
        <p:spPr>
          <a:xfrm>
            <a:off x="731520" y="3730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Row 3 badge number"/>
          <p:cNvSpPr txBox="1"/>
          <p:nvPr/>
        </p:nvSpPr>
        <p:spPr>
          <a:xfrm>
            <a:off x="7315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Row 3 text"/>
          <p:cNvSpPr txBox="1"/>
          <p:nvPr/>
        </p:nvSpPr>
        <p:spPr>
          <a:xfrm>
            <a:off x="1371600" y="354787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goal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Catch as many defaults as possible without wrongly rejecting too many good loans.</a:t>
            </a:r>
            <a:endParaRPr lang="en-US" sz="1600" dirty="0"/>
          </a:p>
        </p:txBody>
      </p:sp>
      <p:sp>
        <p:nvSpPr>
          <p:cNvPr id="15" name="Label 1 card"/>
          <p:cNvSpPr/>
          <p:nvPr/>
        </p:nvSpPr>
        <p:spPr>
          <a:xfrm>
            <a:off x="59436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/>
        </p:spPr>
      </p:sp>
      <p:sp>
        <p:nvSpPr>
          <p:cNvPr id="16" name="Label 1 text"/>
          <p:cNvSpPr txBox="1"/>
          <p:nvPr/>
        </p:nvSpPr>
        <p:spPr>
          <a:xfrm>
            <a:off x="5943600" y="12801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endParaRPr lang="en-US" sz="44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Fully Paid</a:t>
            </a:r>
            <a:endParaRPr lang="en-US" sz="4400" dirty="0"/>
          </a:p>
        </p:txBody>
      </p:sp>
      <p:sp>
        <p:nvSpPr>
          <p:cNvPr id="17" name="Label 0 card"/>
          <p:cNvSpPr/>
          <p:nvPr/>
        </p:nvSpPr>
        <p:spPr>
          <a:xfrm>
            <a:off x="594360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accent3"/>
          </a:solidFill>
          <a:ln/>
        </p:spPr>
      </p:sp>
      <p:sp>
        <p:nvSpPr>
          <p:cNvPr id="18" name="Label 0 text"/>
          <p:cNvSpPr txBox="1"/>
          <p:nvPr/>
        </p:nvSpPr>
        <p:spPr>
          <a:xfrm>
            <a:off x="594360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0</a:t>
            </a:r>
            <a:endParaRPr lang="en-US" sz="44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Default / Charged Off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Dataset: 786,820 finalized loans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548640" y="123444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Stat 1 value"/>
          <p:cNvSpPr txBox="1"/>
          <p:nvPr/>
        </p:nvSpPr>
        <p:spPr>
          <a:xfrm>
            <a:off x="68580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2.26M</a:t>
            </a:r>
            <a:endParaRPr lang="en-US" sz="3000" dirty="0"/>
          </a:p>
        </p:txBody>
      </p:sp>
      <p:sp>
        <p:nvSpPr>
          <p:cNvPr id="5" name="Stat 1 label"/>
          <p:cNvSpPr txBox="1"/>
          <p:nvPr/>
        </p:nvSpPr>
        <p:spPr>
          <a:xfrm>
            <a:off x="6858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raw rows, 151 columns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2606040" y="123444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Stat 2 value"/>
          <p:cNvSpPr txBox="1"/>
          <p:nvPr/>
        </p:nvSpPr>
        <p:spPr>
          <a:xfrm>
            <a:off x="274320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786,820</a:t>
            </a:r>
            <a:endParaRPr lang="en-US" sz="3000" dirty="0"/>
          </a:p>
        </p:txBody>
      </p:sp>
      <p:sp>
        <p:nvSpPr>
          <p:cNvPr id="8" name="Stat 2 label"/>
          <p:cNvSpPr txBox="1"/>
          <p:nvPr/>
        </p:nvSpPr>
        <p:spPr>
          <a:xfrm>
            <a:off x="27432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 filtering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23444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Stat 3 value"/>
          <p:cNvSpPr txBox="1"/>
          <p:nvPr/>
        </p:nvSpPr>
        <p:spPr>
          <a:xfrm>
            <a:off x="480060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81.4%</a:t>
            </a:r>
            <a:endParaRPr lang="en-US" sz="3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48006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Fully Paid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6720840" y="123444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Stat 4 value"/>
          <p:cNvSpPr txBox="1"/>
          <p:nvPr/>
        </p:nvSpPr>
        <p:spPr>
          <a:xfrm>
            <a:off x="685800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27</a:t>
            </a:r>
            <a:endParaRPr lang="en-US" sz="3000" dirty="0"/>
          </a:p>
        </p:txBody>
      </p:sp>
      <p:sp>
        <p:nvSpPr>
          <p:cNvPr id="14" name="Stat 4 label"/>
          <p:cNvSpPr txBox="1"/>
          <p:nvPr/>
        </p:nvSpPr>
        <p:spPr>
          <a:xfrm>
            <a:off x="68580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features (20 numeric, 7 categorical)</a:t>
            </a:r>
            <a:endParaRPr lang="en-US" sz="1200" dirty="0"/>
          </a:p>
        </p:txBody>
      </p:sp>
      <p:sp>
        <p:nvSpPr>
          <p:cNvPr id="15" name="Class balance heading"/>
          <p:cNvSpPr txBox="1"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Class balance after filtering</a:t>
            </a:r>
            <a:endParaRPr lang="en-US" sz="1400" dirty="0"/>
          </a:p>
        </p:txBody>
      </p:sp>
      <p:sp>
        <p:nvSpPr>
          <p:cNvPr id="16" name="Paid share bar"/>
          <p:cNvSpPr/>
          <p:nvPr/>
        </p:nvSpPr>
        <p:spPr>
          <a:xfrm>
            <a:off x="548640" y="3154680"/>
            <a:ext cx="655003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Default share bar"/>
          <p:cNvSpPr/>
          <p:nvPr/>
        </p:nvSpPr>
        <p:spPr>
          <a:xfrm>
            <a:off x="7098670" y="3154680"/>
            <a:ext cx="149669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Paid share label"/>
          <p:cNvSpPr txBox="1"/>
          <p:nvPr/>
        </p:nvSpPr>
        <p:spPr>
          <a:xfrm>
            <a:off x="548640" y="3154680"/>
            <a:ext cx="6550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Fully Paid 81.4%</a:t>
            </a:r>
            <a:endParaRPr lang="en-US" sz="1400" dirty="0"/>
          </a:p>
        </p:txBody>
      </p:sp>
      <p:sp>
        <p:nvSpPr>
          <p:cNvPr id="19" name="Default share label"/>
          <p:cNvSpPr txBox="1"/>
          <p:nvPr/>
        </p:nvSpPr>
        <p:spPr>
          <a:xfrm>
            <a:off x="7098670" y="3154680"/>
            <a:ext cx="1496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Default 18.6%</a:t>
            </a:r>
            <a:endParaRPr lang="en-US" sz="1200" dirty="0"/>
          </a:p>
        </p:txBody>
      </p:sp>
      <p:sp>
        <p:nvSpPr>
          <p:cNvPr id="20" name="Source note"/>
          <p:cNvSpPr txBox="1"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Source: Kaggle, Lending Club Loan Data (accepted_2007_to_2018Q4.csv, about 1.6 GB). Kept loans issued 2012 to 2015 with a final outcome (Fully Paid, Charged Off, Default); Current and Late loans were dropped.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Avoiding data leakage</a:t>
            </a:r>
            <a:endParaRPr lang="en-US" sz="3000" dirty="0"/>
          </a:p>
        </p:txBody>
      </p:sp>
      <p:sp>
        <p:nvSpPr>
          <p:cNvPr id="3" name="Used card"/>
          <p:cNvSpPr/>
          <p:nvPr/>
        </p:nvSpPr>
        <p:spPr>
          <a:xfrm>
            <a:off x="548640" y="1234440"/>
            <a:ext cx="388620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Used heading"/>
          <p:cNvSpPr txBox="1"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Used: known at application time</a:t>
            </a:r>
            <a:endParaRPr lang="en-US" sz="1600" dirty="0"/>
          </a:p>
        </p:txBody>
      </p:sp>
      <p:sp>
        <p:nvSpPr>
          <p:cNvPr id="5" name="Used list"/>
          <p:cNvSpPr txBox="1"/>
          <p:nvPr/>
        </p:nvSpPr>
        <p:spPr>
          <a:xfrm>
            <a:off x="777240" y="18288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Loan amount, term, interest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Grade and sub-grade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FICO range, DTI, annual income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Credit history and employment length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Purpose, home ownership, state</a:t>
            </a:r>
            <a:endParaRPr lang="en-US" sz="1400" dirty="0"/>
          </a:p>
        </p:txBody>
      </p:sp>
      <p:sp>
        <p:nvSpPr>
          <p:cNvPr id="6" name="Excluded card"/>
          <p:cNvSpPr/>
          <p:nvPr/>
        </p:nvSpPr>
        <p:spPr>
          <a:xfrm>
            <a:off x="4709160" y="1234440"/>
            <a:ext cx="388620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Excluded heading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Excluded: reveal the outcome</a:t>
            </a:r>
            <a:endParaRPr lang="en-US" sz="1600" dirty="0"/>
          </a:p>
        </p:txBody>
      </p:sp>
      <p:sp>
        <p:nvSpPr>
          <p:cNvPr id="8" name="Excluded list"/>
          <p:cNvSpPr txBox="1"/>
          <p:nvPr/>
        </p:nvSpPr>
        <p:spPr>
          <a:xfrm>
            <a:off x="4937760" y="18288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total_pymnt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recoveries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last_pymnt_d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other post-origination payment column</a:t>
            </a:r>
            <a:endParaRPr lang="en-US" sz="1400" dirty="0"/>
          </a:p>
        </p:txBody>
      </p:sp>
      <p:sp>
        <p:nvSpPr>
          <p:cNvPr id="9" name="Leakage takeaway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Using outcome-revealing columns would inflate every score, so we kept 27 application-time features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Pipeline</a:t>
            </a:r>
            <a:endParaRPr lang="en-US" sz="3000" dirty="0"/>
          </a:p>
        </p:txBody>
      </p:sp>
      <p:sp>
        <p:nvSpPr>
          <p:cNvPr id="3" name="Step 1 card"/>
          <p:cNvSpPr/>
          <p:nvPr/>
        </p:nvSpPr>
        <p:spPr>
          <a:xfrm>
            <a:off x="548640" y="1188720"/>
            <a:ext cx="539496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/>
        </p:spPr>
      </p:sp>
      <p:sp>
        <p:nvSpPr>
          <p:cNvPr id="4" name="Step 1 badge"/>
          <p:cNvSpPr/>
          <p:nvPr/>
        </p:nvSpPr>
        <p:spPr>
          <a:xfrm>
            <a:off x="685800" y="13167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badge number"/>
          <p:cNvSpPr txBox="1"/>
          <p:nvPr/>
        </p:nvSpPr>
        <p:spPr>
          <a:xfrm>
            <a:off x="68580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1 text"/>
          <p:cNvSpPr txBox="1"/>
          <p:nvPr/>
        </p:nvSpPr>
        <p:spPr>
          <a:xfrm>
            <a:off x="1188720" y="1188720"/>
            <a:ext cx="4663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Filter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Loans issued 2012 to 2015 with a final outcome.</a:t>
            </a:r>
            <a:endParaRPr lang="en-US" sz="1400" dirty="0"/>
          </a:p>
        </p:txBody>
      </p:sp>
      <p:sp>
        <p:nvSpPr>
          <p:cNvPr id="7" name="Step 2 card"/>
          <p:cNvSpPr/>
          <p:nvPr/>
        </p:nvSpPr>
        <p:spPr>
          <a:xfrm>
            <a:off x="548640" y="1892808"/>
            <a:ext cx="539496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/>
        </p:spPr>
      </p:sp>
      <p:sp>
        <p:nvSpPr>
          <p:cNvPr id="8" name="Step 2 badge"/>
          <p:cNvSpPr/>
          <p:nvPr/>
        </p:nvSpPr>
        <p:spPr>
          <a:xfrm>
            <a:off x="685800" y="20208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 2 badge number"/>
          <p:cNvSpPr txBox="1"/>
          <p:nvPr/>
        </p:nvSpPr>
        <p:spPr>
          <a:xfrm>
            <a:off x="68580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2 text"/>
          <p:cNvSpPr txBox="1"/>
          <p:nvPr/>
        </p:nvSpPr>
        <p:spPr>
          <a:xfrm>
            <a:off x="1188720" y="1892808"/>
            <a:ext cx="4663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Split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Stratified 60 / 20 / 20 into train, dev and test.</a:t>
            </a:r>
            <a:endParaRPr lang="en-US" sz="1400" dirty="0"/>
          </a:p>
        </p:txBody>
      </p:sp>
      <p:sp>
        <p:nvSpPr>
          <p:cNvPr id="11" name="Step 3 card"/>
          <p:cNvSpPr/>
          <p:nvPr/>
        </p:nvSpPr>
        <p:spPr>
          <a:xfrm>
            <a:off x="548640" y="2596896"/>
            <a:ext cx="539496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/>
        </p:spPr>
      </p:sp>
      <p:sp>
        <p:nvSpPr>
          <p:cNvPr id="12" name="Step 3 badge"/>
          <p:cNvSpPr/>
          <p:nvPr/>
        </p:nvSpPr>
        <p:spPr>
          <a:xfrm>
            <a:off x="685800" y="27249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3 badge number"/>
          <p:cNvSpPr txBox="1"/>
          <p:nvPr/>
        </p:nvSpPr>
        <p:spPr>
          <a:xfrm>
            <a:off x="68580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3 text"/>
          <p:cNvSpPr txBox="1"/>
          <p:nvPr/>
        </p:nvSpPr>
        <p:spPr>
          <a:xfrm>
            <a:off x="1188720" y="2596896"/>
            <a:ext cx="4663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Preprocess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Impute, scale, one-hot encode. Fit on train only. 136 features.</a:t>
            </a:r>
            <a:endParaRPr lang="en-US" sz="1400" dirty="0"/>
          </a:p>
        </p:txBody>
      </p:sp>
      <p:sp>
        <p:nvSpPr>
          <p:cNvPr id="15" name="Step 4 card"/>
          <p:cNvSpPr/>
          <p:nvPr/>
        </p:nvSpPr>
        <p:spPr>
          <a:xfrm>
            <a:off x="548640" y="3300984"/>
            <a:ext cx="539496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/>
        </p:spPr>
      </p:sp>
      <p:sp>
        <p:nvSpPr>
          <p:cNvPr id="16" name="Step 4 badge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4 badge number"/>
          <p:cNvSpPr txBox="1"/>
          <p:nvPr/>
        </p:nvSpPr>
        <p:spPr>
          <a:xfrm>
            <a:off x="6858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4 text"/>
          <p:cNvSpPr txBox="1"/>
          <p:nvPr/>
        </p:nvSpPr>
        <p:spPr>
          <a:xfrm>
            <a:off x="1188720" y="3300984"/>
            <a:ext cx="4663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Four models, each with class-imbalance handling.</a:t>
            </a:r>
            <a:endParaRPr lang="en-US" sz="1400" dirty="0"/>
          </a:p>
        </p:txBody>
      </p:sp>
      <p:sp>
        <p:nvSpPr>
          <p:cNvPr id="19" name="Step 5 card"/>
          <p:cNvSpPr/>
          <p:nvPr/>
        </p:nvSpPr>
        <p:spPr>
          <a:xfrm>
            <a:off x="548640" y="4005072"/>
            <a:ext cx="539496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/>
        </p:spPr>
      </p:sp>
      <p:sp>
        <p:nvSpPr>
          <p:cNvPr id="20" name="Step 5 badge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5 badge number"/>
          <p:cNvSpPr txBox="1"/>
          <p:nvPr/>
        </p:nvSpPr>
        <p:spPr>
          <a:xfrm>
            <a:off x="68580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tep 5 text"/>
          <p:cNvSpPr txBox="1"/>
          <p:nvPr/>
        </p:nvSpPr>
        <p:spPr>
          <a:xfrm>
            <a:off x="1188720" y="4005072"/>
            <a:ext cx="4663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Tune and test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 threshold on dev, report on test.</a:t>
            </a:r>
            <a:endParaRPr lang="en-US" sz="1400" dirty="0"/>
          </a:p>
        </p:txBody>
      </p:sp>
      <p:sp>
        <p:nvSpPr>
          <p:cNvPr id="23" name="Split panel"/>
          <p:cNvSpPr/>
          <p:nvPr/>
        </p:nvSpPr>
        <p:spPr>
          <a:xfrm>
            <a:off x="6217920" y="1188720"/>
            <a:ext cx="2377440" cy="33832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24" name="Split heading"/>
          <p:cNvSpPr txBox="1"/>
          <p:nvPr/>
        </p:nvSpPr>
        <p:spPr>
          <a:xfrm>
            <a:off x="64008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split</a:t>
            </a:r>
            <a:endParaRPr lang="en-US" sz="1400" dirty="0"/>
          </a:p>
        </p:txBody>
      </p:sp>
      <p:sp>
        <p:nvSpPr>
          <p:cNvPr id="25" name="Train 60% block"/>
          <p:cNvSpPr/>
          <p:nvPr/>
        </p:nvSpPr>
        <p:spPr>
          <a:xfrm>
            <a:off x="6400800" y="1737360"/>
            <a:ext cx="731520" cy="1444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rain 60% label"/>
          <p:cNvSpPr txBox="1"/>
          <p:nvPr/>
        </p:nvSpPr>
        <p:spPr>
          <a:xfrm>
            <a:off x="7223760" y="1737360"/>
            <a:ext cx="1280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Train 60%</a:t>
            </a:r>
            <a:endParaRPr lang="en-US" sz="1200" dirty="0"/>
          </a:p>
        </p:txBody>
      </p:sp>
      <p:sp>
        <p:nvSpPr>
          <p:cNvPr id="27" name="Dev 20% block"/>
          <p:cNvSpPr/>
          <p:nvPr/>
        </p:nvSpPr>
        <p:spPr>
          <a:xfrm>
            <a:off x="6400800" y="3218688"/>
            <a:ext cx="73152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Dev 20% label"/>
          <p:cNvSpPr txBox="1"/>
          <p:nvPr/>
        </p:nvSpPr>
        <p:spPr>
          <a:xfrm>
            <a:off x="7223760" y="32186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Dev 20%</a:t>
            </a:r>
            <a:endParaRPr lang="en-US" sz="1200" dirty="0"/>
          </a:p>
        </p:txBody>
      </p:sp>
      <p:sp>
        <p:nvSpPr>
          <p:cNvPr id="29" name="Test 20% block"/>
          <p:cNvSpPr/>
          <p:nvPr/>
        </p:nvSpPr>
        <p:spPr>
          <a:xfrm>
            <a:off x="6400800" y="3712464"/>
            <a:ext cx="73152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0" name="Test 20% label"/>
          <p:cNvSpPr txBox="1"/>
          <p:nvPr/>
        </p:nvSpPr>
        <p:spPr>
          <a:xfrm>
            <a:off x="7223760" y="37124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Test 20%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models, one imbalance fix each</a:t>
            </a:r>
            <a:endParaRPr lang="en-US" sz="3000" dirty="0"/>
          </a:p>
        </p:txBody>
      </p:sp>
      <p:sp>
        <p:nvSpPr>
          <p:cNvPr id="3" name="Model 1 card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Model 1 badge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del 1 badge number"/>
          <p:cNvSpPr txBox="1"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Model 1 name"/>
          <p:cNvSpPr txBox="1"/>
          <p:nvPr/>
        </p:nvSpPr>
        <p:spPr>
          <a:xfrm>
            <a:off x="123444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7" name="Model 1 detail"/>
          <p:cNvSpPr txBox="1"/>
          <p:nvPr/>
        </p:nvSpPr>
        <p:spPr>
          <a:xfrm>
            <a:off x="777240" y="1874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class_weight = balanced. Simple, interpretable baseline.</a:t>
            </a:r>
            <a:endParaRPr lang="en-US" sz="1300" dirty="0"/>
          </a:p>
        </p:txBody>
      </p:sp>
      <p:sp>
        <p:nvSpPr>
          <p:cNvPr id="8" name="Model 2 card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Model 2 badge"/>
          <p:cNvSpPr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Model 2 badge number"/>
          <p:cNvSpPr txBox="1"/>
          <p:nvPr/>
        </p:nvSpPr>
        <p:spPr>
          <a:xfrm>
            <a:off x="48463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Model 2 name"/>
          <p:cNvSpPr txBox="1"/>
          <p:nvPr/>
        </p:nvSpPr>
        <p:spPr>
          <a:xfrm>
            <a:off x="534924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Neural Network (MLP)</a:t>
            </a:r>
            <a:endParaRPr lang="en-US" sz="1600" dirty="0"/>
          </a:p>
        </p:txBody>
      </p:sp>
      <p:sp>
        <p:nvSpPr>
          <p:cNvPr id="12" name="Model 2 detail"/>
          <p:cNvSpPr txBox="1"/>
          <p:nvPr/>
        </p:nvSpPr>
        <p:spPr>
          <a:xfrm>
            <a:off x="4892040" y="18745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Layers 32-16-8, ReLU. Trained on a 1:1 undersampled set.</a:t>
            </a:r>
            <a:endParaRPr lang="en-US" sz="1300" dirty="0"/>
          </a:p>
        </p:txBody>
      </p:sp>
      <p:sp>
        <p:nvSpPr>
          <p:cNvPr id="13" name="Model 3 card"/>
          <p:cNvSpPr/>
          <p:nvPr/>
        </p:nvSpPr>
        <p:spPr>
          <a:xfrm>
            <a:off x="548640" y="274320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4" name="Model 3 badge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Model 3 badge number"/>
          <p:cNvSpPr txBox="1"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Model 3 name"/>
          <p:cNvSpPr txBox="1"/>
          <p:nvPr/>
        </p:nvSpPr>
        <p:spPr>
          <a:xfrm>
            <a:off x="123444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7" name="Model 3 detail"/>
          <p:cNvSpPr txBox="1"/>
          <p:nvPr/>
        </p:nvSpPr>
        <p:spPr>
          <a:xfrm>
            <a:off x="777240" y="3429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 trees, depth 12, class_weight = balanced_subsample.</a:t>
            </a:r>
            <a:endParaRPr lang="en-US" sz="1300" dirty="0"/>
          </a:p>
        </p:txBody>
      </p:sp>
      <p:sp>
        <p:nvSpPr>
          <p:cNvPr id="18" name="Model 4 card"/>
          <p:cNvSpPr/>
          <p:nvPr/>
        </p:nvSpPr>
        <p:spPr>
          <a:xfrm>
            <a:off x="4663440" y="274320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Model 4 badge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Model 4 badge number"/>
          <p:cNvSpPr txBox="1"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Model 4 name"/>
          <p:cNvSpPr txBox="1"/>
          <p:nvPr/>
        </p:nvSpPr>
        <p:spPr>
          <a:xfrm>
            <a:off x="534924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HistGradientBoosting</a:t>
            </a:r>
            <a:endParaRPr lang="en-US" sz="1600" dirty="0"/>
          </a:p>
        </p:txBody>
      </p:sp>
      <p:sp>
        <p:nvSpPr>
          <p:cNvPr id="22" name="Model 4 detail"/>
          <p:cNvSpPr txBox="1"/>
          <p:nvPr/>
        </p:nvSpPr>
        <p:spPr>
          <a:xfrm>
            <a:off x="4892040" y="3429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Balanced sample weights, 300 iterations, learning rate 0.05.</a:t>
            </a:r>
            <a:endParaRPr lang="en-US" sz="1300" dirty="0"/>
          </a:p>
        </p:txBody>
      </p:sp>
      <p:sp>
        <p:nvSpPr>
          <p:cNvPr id="23" name="Threshold note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Threshold tuning: the cut-off on P(default) that maximises Default-class F1 on the dev set is applied to the test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Lesson from v1: accuracy hid the problem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1"/>
          <p:cNvSpPr/>
          <p:nvPr/>
        </p:nvSpPr>
        <p:spPr>
          <a:xfrm>
            <a:off x="594360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5" name="Callout 1 text"/>
          <p:cNvSpPr txBox="1"/>
          <p:nvPr/>
        </p:nvSpPr>
        <p:spPr>
          <a:xfrm>
            <a:off x="6080760" y="1234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0.81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from always predicting Paid</a:t>
            </a:r>
            <a:endParaRPr lang="en-US" sz="3600" dirty="0"/>
          </a:p>
        </p:txBody>
      </p:sp>
      <p:sp>
        <p:nvSpPr>
          <p:cNvPr id="6" name="Callout 2"/>
          <p:cNvSpPr/>
          <p:nvPr/>
        </p:nvSpPr>
        <p:spPr>
          <a:xfrm>
            <a:off x="5943600" y="29260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7" name="Callout 2 text"/>
          <p:cNvSpPr txBox="1"/>
          <p:nvPr/>
        </p:nvSpPr>
        <p:spPr>
          <a:xfrm>
            <a:off x="6080760" y="29718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0.82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of v1 MLP and Random Forest, yet they missed 93% and 96% of defaults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 on the held-out test set</a:t>
            </a:r>
            <a:endParaRPr lang="en-US" sz="3000" dirty="0"/>
          </a:p>
        </p:txBody>
      </p:sp>
      <p:graphicFrame>
        <p:nvGraphicFramePr>
          <p:cNvPr id="9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463040"/>
                <a:gridCol w="16459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Default recall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Default precision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Default F1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0.7185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0.596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0.325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0.420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Neural Network (MLP)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0.7189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0.583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0.328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0.420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0.7147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0.580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0.324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B2A"/>
                          </a:solidFill>
                        </a:rPr>
                        <a:t>0.416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2B2A"/>
                          </a:solidFill>
                        </a:rPr>
                        <a:t>HistGradientBoosting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B2A"/>
                          </a:solidFill>
                        </a:rPr>
                        <a:t>0.7245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B2A"/>
                          </a:solidFill>
                        </a:rPr>
                        <a:t>0.609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B2A"/>
                          </a:solidFill>
                        </a:rPr>
                        <a:t>0.327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B2A"/>
                          </a:solidFill>
                        </a:rPr>
                        <a:t>0.426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0"/>
                    </a:solidFill>
                  </a:tcPr>
                </a:tc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157,364 test loans. Recall, precision and F1 are for the Default class at the dev-tuned threshold.</a:t>
            </a:r>
            <a:endParaRPr lang="en-US" sz="1200" dirty="0"/>
          </a:p>
        </p:txBody>
      </p:sp>
      <p:sp>
        <p:nvSpPr>
          <p:cNvPr id="5" name="Takeaway card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Takeaway text"/>
          <p:cNvSpPr txBox="1"/>
          <p:nvPr/>
        </p:nvSpPr>
        <p:spPr>
          <a:xfrm>
            <a:off x="77724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HistGradientBoosting is best (AUC 0.7245), but only about 0.006 ahead of Logistic Regression.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ROC curves: all four models overlap</a:t>
            </a:r>
            <a:endParaRPr lang="en-US" sz="3000" dirty="0"/>
          </a:p>
        </p:txBody>
      </p:sp>
      <p:pic>
        <p:nvPicPr>
          <p:cNvPr id="3" name="ROC curves image" descr="ROC curves on the test set for the four models; the curves nearly overlap, with AUC between 0.715 and 0.7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114800" cy="3429000"/>
          </a:xfrm>
          <a:prstGeom prst="rect">
            <a:avLst/>
          </a:prstGeom>
        </p:spPr>
      </p:pic>
      <p:sp>
        <p:nvSpPr>
          <p:cNvPr id="4" name="AUC callout"/>
          <p:cNvSpPr/>
          <p:nvPr/>
        </p:nvSpPr>
        <p:spPr>
          <a:xfrm>
            <a:off x="5029200" y="1188720"/>
            <a:ext cx="3566160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</p:spPr>
      </p:sp>
      <p:sp>
        <p:nvSpPr>
          <p:cNvPr id="5" name="AUC callout text"/>
          <p:cNvSpPr txBox="1"/>
          <p:nvPr/>
        </p:nvSpPr>
        <p:spPr>
          <a:xfrm>
            <a:off x="5212080" y="1188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0.7245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best test ROC-AUC (HistGradientBoosting)</a:t>
            </a:r>
            <a:endParaRPr lang="en-US" sz="3600" dirty="0"/>
          </a:p>
        </p:txBody>
      </p:sp>
      <p:sp>
        <p:nvSpPr>
          <p:cNvPr id="6" name="ROC takeaways"/>
          <p:cNvSpPr txBox="1"/>
          <p:nvPr/>
        </p:nvSpPr>
        <p:spPr>
          <a:xfrm>
            <a:off x="5029200" y="26517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Curves nearly coincide: AUC ranges only 0.715 to 0.725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 application-time features, every model plateaus near 0.72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Tuned thresholds sit near 0.53 on P(default)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3" name="Next 1 card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Next 1 badge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ext 1 badge number"/>
          <p:cNvSpPr txBox="1"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Next 1 heading"/>
          <p:cNvSpPr txBox="1"/>
          <p:nvPr/>
        </p:nvSpPr>
        <p:spPr>
          <a:xfrm>
            <a:off x="1234440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Drop grade, sub_grade, int_rate</a:t>
            </a:r>
            <a:endParaRPr lang="en-US" sz="1600" dirty="0"/>
          </a:p>
        </p:txBody>
      </p:sp>
      <p:sp>
        <p:nvSpPr>
          <p:cNvPr id="7" name="Next 1 detail"/>
          <p:cNvSpPr txBox="1"/>
          <p:nvPr/>
        </p:nvSpPr>
        <p:spPr>
          <a:xfrm>
            <a:off x="777240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Retrain without LendingClub's own risk assessment to measure the models' independent signal.</a:t>
            </a:r>
            <a:endParaRPr lang="en-US" sz="1300" dirty="0"/>
          </a:p>
        </p:txBody>
      </p:sp>
      <p:sp>
        <p:nvSpPr>
          <p:cNvPr id="8" name="Next 2 card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Next 2 badge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ext 2 badge number"/>
          <p:cNvSpPr txBox="1"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Next 2 heading"/>
          <p:cNvSpPr txBox="1"/>
          <p:nvPr/>
        </p:nvSpPr>
        <p:spPr>
          <a:xfrm>
            <a:off x="5349240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Feature importance</a:t>
            </a:r>
            <a:endParaRPr lang="en-US" sz="1600" dirty="0"/>
          </a:p>
        </p:txBody>
      </p:sp>
      <p:sp>
        <p:nvSpPr>
          <p:cNvPr id="12" name="Next 2 detail"/>
          <p:cNvSpPr txBox="1"/>
          <p:nvPr/>
        </p:nvSpPr>
        <p:spPr>
          <a:xfrm>
            <a:off x="4892040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importance for the boosting model to see what drives default predictions.</a:t>
            </a:r>
            <a:endParaRPr lang="en-US" sz="1300" dirty="0"/>
          </a:p>
        </p:txBody>
      </p:sp>
      <p:sp>
        <p:nvSpPr>
          <p:cNvPr id="13" name="Next 3 card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4" name="Next 3 badge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ext 3 badge number"/>
          <p:cNvSpPr txBox="1"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Next 3 heading"/>
          <p:cNvSpPr txBox="1"/>
          <p:nvPr/>
        </p:nvSpPr>
        <p:spPr>
          <a:xfrm>
            <a:off x="123444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 on 2016 to 2018 loans</a:t>
            </a:r>
            <a:endParaRPr lang="en-US" sz="1600" dirty="0"/>
          </a:p>
        </p:txBody>
      </p:sp>
      <p:sp>
        <p:nvSpPr>
          <p:cNvPr id="17" name="Next 3 detail"/>
          <p:cNvSpPr txBox="1"/>
          <p:nvPr/>
        </p:nvSpPr>
        <p:spPr>
          <a:xfrm>
            <a:off x="777240" y="3611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generalization over time on finalized later loans.</a:t>
            </a:r>
            <a:endParaRPr lang="en-US" sz="1300" dirty="0"/>
          </a:p>
        </p:txBody>
      </p:sp>
      <p:sp>
        <p:nvSpPr>
          <p:cNvPr id="18" name="Next 4 card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9" name="Next 4 badge"/>
          <p:cNvSpPr/>
          <p:nvPr/>
        </p:nvSpPr>
        <p:spPr>
          <a:xfrm>
            <a:off x="484632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ext 4 badge number"/>
          <p:cNvSpPr txBox="1"/>
          <p:nvPr/>
        </p:nvSpPr>
        <p:spPr>
          <a:xfrm>
            <a:off x="48463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Next 4 heading"/>
          <p:cNvSpPr txBox="1"/>
          <p:nvPr/>
        </p:nvSpPr>
        <p:spPr>
          <a:xfrm>
            <a:off x="534924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Regression and loan selection</a:t>
            </a:r>
            <a:endParaRPr lang="en-US" sz="1600" dirty="0"/>
          </a:p>
        </p:txBody>
      </p:sp>
      <p:sp>
        <p:nvSpPr>
          <p:cNvPr id="22" name="Next 4 detail"/>
          <p:cNvSpPr txBox="1"/>
          <p:nvPr/>
        </p:nvSpPr>
        <p:spPr>
          <a:xfrm>
            <a:off x="4892040" y="3611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the profitability regression and selection strategy from the reference paper.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Conclusions</a:t>
            </a:r>
            <a:endParaRPr lang="en-US" sz="3000" dirty="0"/>
          </a:p>
        </p:txBody>
      </p:sp>
      <p:sp>
        <p:nvSpPr>
          <p:cNvPr id="3" name="Conclusion 1 card"/>
          <p:cNvSpPr/>
          <p:nvPr/>
        </p:nvSpPr>
        <p:spPr>
          <a:xfrm>
            <a:off x="54864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Conclusion 1 badge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onclusion 1 badge number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onclusion 1 heading"/>
          <p:cNvSpPr txBox="1"/>
          <p:nvPr/>
        </p:nvSpPr>
        <p:spPr>
          <a:xfrm>
            <a:off x="77724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Boosting wins narrowly</a:t>
            </a:r>
            <a:endParaRPr lang="en-US" sz="1600" dirty="0"/>
          </a:p>
        </p:txBody>
      </p:sp>
      <p:sp>
        <p:nvSpPr>
          <p:cNvPr id="7" name="Conclusion 1 detail"/>
          <p:cNvSpPr txBox="1"/>
          <p:nvPr/>
        </p:nvSpPr>
        <p:spPr>
          <a:xfrm>
            <a:off x="7772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HistGradientBoosting reaches AUC 0.7245, only about 0.006 above Logistic Regression.</a:t>
            </a:r>
            <a:endParaRPr lang="en-US" sz="1400" dirty="0"/>
          </a:p>
        </p:txBody>
      </p:sp>
      <p:sp>
        <p:nvSpPr>
          <p:cNvPr id="8" name="Conclusion 2 card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9" name="Conclusion 2 badge"/>
          <p:cNvSpPr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nclusion 2 badge number"/>
          <p:cNvSpPr txBox="1"/>
          <p:nvPr/>
        </p:nvSpPr>
        <p:spPr>
          <a:xfrm>
            <a:off x="3520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onclusion 2 heading"/>
          <p:cNvSpPr txBox="1"/>
          <p:nvPr/>
        </p:nvSpPr>
        <p:spPr>
          <a:xfrm>
            <a:off x="352044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plateau near 0.72 AUC</a:t>
            </a:r>
            <a:endParaRPr lang="en-US" sz="1600" dirty="0"/>
          </a:p>
        </p:txBody>
      </p:sp>
      <p:sp>
        <p:nvSpPr>
          <p:cNvPr id="12" name="Conclusion 2 detail"/>
          <p:cNvSpPr txBox="1"/>
          <p:nvPr/>
        </p:nvSpPr>
        <p:spPr>
          <a:xfrm>
            <a:off x="35204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Application-time features limit all four models, regardless of complexity.</a:t>
            </a:r>
            <a:endParaRPr lang="en-US" sz="1400" dirty="0"/>
          </a:p>
        </p:txBody>
      </p:sp>
      <p:sp>
        <p:nvSpPr>
          <p:cNvPr id="13" name="Conclusion 3 card"/>
          <p:cNvSpPr/>
          <p:nvPr/>
        </p:nvSpPr>
        <p:spPr>
          <a:xfrm>
            <a:off x="603504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4" name="Conclusion 3 badge"/>
          <p:cNvSpPr/>
          <p:nvPr/>
        </p:nvSpPr>
        <p:spPr>
          <a:xfrm>
            <a:off x="62636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onclusion 3 badge number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onclusion 3 heading"/>
          <p:cNvSpPr txBox="1"/>
          <p:nvPr/>
        </p:nvSpPr>
        <p:spPr>
          <a:xfrm>
            <a:off x="626364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Imbalance handling mattered most</a:t>
            </a:r>
            <a:endParaRPr lang="en-US" sz="1600" dirty="0"/>
          </a:p>
        </p:txBody>
      </p:sp>
      <p:sp>
        <p:nvSpPr>
          <p:cNvPr id="17" name="Conclusion 3 detail"/>
          <p:cNvSpPr txBox="1"/>
          <p:nvPr/>
        </p:nvSpPr>
        <p:spPr>
          <a:xfrm>
            <a:off x="62636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Balancing and threshold tuning lifted Default recall from 4 to 7% to about 58 to 61%.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dingClub Teal">
  <a:themeElements>
    <a:clrScheme name="LendingClub Teal">
      <a:dk1>
        <a:srgbClr val="1A2B2A"/>
      </a:dk1>
      <a:lt1>
        <a:srgbClr val="FFFFFF"/>
      </a:lt1>
      <a:dk2>
        <a:srgbClr val="0F3B3A"/>
      </a:dk2>
      <a:lt2>
        <a:srgbClr val="EAF2F0"/>
      </a:lt2>
      <a:accent1>
        <a:srgbClr val="1B7F79"/>
      </a:accent1>
      <a:accent2>
        <a:srgbClr val="E9A23B"/>
      </a:accent2>
      <a:accent3>
        <a:srgbClr val="D1495B"/>
      </a:accent3>
      <a:accent4>
        <a:srgbClr val="5B8E7D"/>
      </a:accent4>
      <a:accent5>
        <a:srgbClr val="6B7C85"/>
      </a:accent5>
      <a:accent6>
        <a:srgbClr val="2F5D8C"/>
      </a:accent6>
      <a:hlink>
        <a:srgbClr val="1B7F79"/>
      </a:hlink>
      <a:folHlink>
        <a:srgbClr val="6B7C85"/>
      </a:folHlink>
    </a:clrScheme>
    <a:fontScheme name="LendingClub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Loan Default Prediction</dc:title>
  <dc:subject>PptxGenJS Presentation</dc:subject>
  <dc:creator>Sohan MR, Sinchana Kulkarni</dc:creator>
  <cp:lastModifiedBy>Sohan MR, Sinchana Kulkarni</cp:lastModifiedBy>
  <cp:revision>1</cp:revision>
  <dcterms:created xsi:type="dcterms:W3CDTF">2026-10-12T02:53:23Z</dcterms:created>
  <dcterms:modified xsi:type="dcterms:W3CDTF">2026-10-12T02:53:23Z</dcterms:modified>
</cp:coreProperties>
</file>